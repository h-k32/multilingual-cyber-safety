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7C9A5"/>
                </a:solidFill>
                <a:latin typeface="Aptos"/>
              </a:rPr>
              <a:t>PROTOTYPE BRIEFING  /  ETHIOPIA  /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5577840" cy="1645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4F4EC"/>
                </a:solidFill>
                <a:latin typeface="Aptos Display"/>
              </a:rPr>
              <a:t>Multilingual
Cyber-Safety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999232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D2DED8"/>
                </a:solidFill>
                <a:latin typeface="Aptos"/>
              </a:rPr>
              <a:t>Explainable message analysis in English, Amharic,
and meaningful code-switching.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4160520"/>
            <a:ext cx="621792" cy="50292"/>
          </a:xfrm>
          <a:prstGeom prst="rect">
            <a:avLst/>
          </a:prstGeom>
          <a:solidFill>
            <a:srgbClr val="3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4370832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4F4EC"/>
                </a:solidFill>
                <a:latin typeface="Aptos"/>
              </a:rPr>
              <a:t>LANGUAGE  +  ML  +  SECURITY RULES  +  URL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6053328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AFA9"/>
                </a:solidFill>
                <a:latin typeface="Aptos"/>
              </a:rPr>
              <a:t>A working research prototype - not a production security service.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658368"/>
            <a:ext cx="5029200" cy="5532120"/>
          </a:xfrm>
          <a:prstGeom prst="rect">
            <a:avLst/>
          </a:prstGeom>
          <a:solidFill>
            <a:srgbClr val="2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932688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7C9A5"/>
                </a:solidFill>
                <a:latin typeface="Aptos"/>
              </a:rPr>
              <a:t>ONE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298448"/>
            <a:ext cx="4251960" cy="9601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4EC"/>
                </a:solidFill>
                <a:latin typeface="Aptos"/>
              </a:rPr>
              <a:t>Your account will be suspended today. Verify your account immediately: http://secure-bank0nline.com/verify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450592"/>
            <a:ext cx="4251960" cy="18288"/>
          </a:xfrm>
          <a:prstGeom prst="rect">
            <a:avLst/>
          </a:prstGeom>
          <a:solidFill>
            <a:srgbClr val="496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12864" y="2724912"/>
            <a:ext cx="384048" cy="384048"/>
          </a:xfrm>
          <a:prstGeom prst="rect">
            <a:avLst/>
          </a:prstGeom>
          <a:solidFill>
            <a:srgbClr val="3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2864" y="2738628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B2B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2711196"/>
            <a:ext cx="3474720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7C9A5"/>
                </a:solidFill>
                <a:latin typeface="Aptos"/>
              </a:rPr>
              <a:t>TEXT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2953512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F4EC"/>
                </a:solidFill>
                <a:latin typeface="Aptos"/>
              </a:rPr>
              <a:t>Word + character TF-IDF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2864" y="3529584"/>
            <a:ext cx="384048" cy="384048"/>
          </a:xfrm>
          <a:prstGeom prst="rect">
            <a:avLst/>
          </a:prstGeom>
          <a:solidFill>
            <a:srgbClr val="E6B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12864" y="3543300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B2B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3515868"/>
            <a:ext cx="3474720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B760"/>
                </a:solidFill>
                <a:latin typeface="Aptos"/>
              </a:rPr>
              <a:t>SECURITY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3758183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F4EC"/>
                </a:solidFill>
                <a:latin typeface="Aptos"/>
              </a:rPr>
              <a:t>Intent and behavior cues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12864" y="4334256"/>
            <a:ext cx="384048" cy="384048"/>
          </a:xfrm>
          <a:prstGeom prst="rect">
            <a:avLst/>
          </a:prstGeom>
          <a:solidFill>
            <a:srgbClr val="E57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12864" y="4347972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B2B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4320540"/>
            <a:ext cx="3474720" cy="2103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57859"/>
                </a:solidFill>
                <a:latin typeface="Aptos"/>
              </a:rPr>
              <a:t>URL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4562856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F4EC"/>
                </a:solidFill>
                <a:latin typeface="Aptos"/>
              </a:rPr>
              <a:t>Host and path heuristics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5285232"/>
            <a:ext cx="4261104" cy="530352"/>
          </a:xfrm>
          <a:prstGeom prst="rect">
            <a:avLst/>
          </a:prstGeom>
          <a:solidFill>
            <a:srgbClr val="3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04304" y="5321808"/>
            <a:ext cx="4069080" cy="42976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B2B"/>
                </a:solidFill>
                <a:latin typeface="Aptos"/>
              </a:rPr>
              <a:t>EXPLAINABLE RISK 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BAFA9"/>
                </a:solidFill>
                <a:latin typeface="Aptos"/>
              </a:rPr>
              <a:t>MULTILINGUAL CYBER-SAFETY  /  PROTOTYPE BRIEFING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052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BAFA9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16865"/>
                </a:solidFill>
                <a:latin typeface="Aptos"/>
              </a:rPr>
              <a:t>THE CLASSIFICATION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2B2B"/>
                </a:solidFill>
                <a:latin typeface="Aptos Display"/>
              </a:rPr>
              <a:t>Similar vocabulary. Different intent.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270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16865"/>
                </a:solidFill>
                <a:latin typeface="Aptos"/>
              </a:rPr>
              <a:t>Brand names and money amounts are evidence - not the decision rule.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38528"/>
            <a:ext cx="3493008" cy="3566160"/>
          </a:xfrm>
          <a:prstGeom prst="rect">
            <a:avLst/>
          </a:prstGeom>
          <a:solidFill>
            <a:srgbClr val="FFFFFA"/>
          </a:solidFill>
          <a:ln w="12700">
            <a:solidFill>
              <a:srgbClr val="D8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38528"/>
            <a:ext cx="64008" cy="3566160"/>
          </a:xfrm>
          <a:prstGeom prst="rect">
            <a:avLst/>
          </a:prstGeom>
          <a:solidFill>
            <a:srgbClr val="3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7C9A5"/>
                </a:solidFill>
                <a:latin typeface="Aptos"/>
              </a:rPr>
              <a:t>BENIGN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78608"/>
            <a:ext cx="2999232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16865"/>
                </a:solidFill>
                <a:latin typeface="Aptos"/>
              </a:rPr>
              <a:t>COMPLETED TRANSACTION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62656"/>
            <a:ext cx="2999232" cy="12344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B2B"/>
                </a:solidFill>
                <a:latin typeface="Aptos"/>
              </a:rPr>
              <a:t>?Your CBE transfer of 2,450 ETB to Hana Bekele completed at 14:32. The receipt is in your account history.?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70832"/>
            <a:ext cx="2999232" cy="16459"/>
          </a:xfrm>
          <a:prstGeom prst="rect">
            <a:avLst/>
          </a:prstGeom>
          <a:solidFill>
            <a:srgbClr val="D8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53712"/>
            <a:ext cx="2999232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16865"/>
                </a:solidFill>
                <a:latin typeface="Aptos"/>
              </a:rPr>
              <a:t>Reports a completed transfer. No new payment or secret is requested.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938528"/>
            <a:ext cx="3493008" cy="3566160"/>
          </a:xfrm>
          <a:prstGeom prst="rect">
            <a:avLst/>
          </a:prstGeom>
          <a:solidFill>
            <a:srgbClr val="FFFFFA"/>
          </a:solidFill>
          <a:ln w="12700">
            <a:solidFill>
              <a:srgbClr val="D8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938528"/>
            <a:ext cx="64008" cy="3566160"/>
          </a:xfrm>
          <a:prstGeom prst="rect">
            <a:avLst/>
          </a:prstGeom>
          <a:solidFill>
            <a:srgbClr val="E6B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17627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6B760"/>
                </a:solidFill>
                <a:latin typeface="Aptos"/>
              </a:rPr>
              <a:t>PHISHING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78608"/>
            <a:ext cx="2999232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16865"/>
                </a:solidFill>
                <a:latin typeface="Aptos"/>
              </a:rPr>
              <a:t>CREDENTIAL COLLECTION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962656"/>
            <a:ext cx="2999232" cy="12344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B2B"/>
                </a:solidFill>
                <a:latin typeface="Aptos"/>
              </a:rPr>
              <a:t>?Urgent security alert: Unauthorized attempt detected on your bank account. Reset PIN at http://192.168.1.1/login?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53712" y="4370832"/>
            <a:ext cx="2999232" cy="16459"/>
          </a:xfrm>
          <a:prstGeom prst="rect">
            <a:avLst/>
          </a:prstGeom>
          <a:solidFill>
            <a:srgbClr val="D8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4553712"/>
            <a:ext cx="2999232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16865"/>
                </a:solidFill>
                <a:latin typeface="Aptos"/>
              </a:rPr>
              <a:t>Asks the recipient to reset a PIN through a suspicious address.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5864" y="1938528"/>
            <a:ext cx="3493008" cy="3566160"/>
          </a:xfrm>
          <a:prstGeom prst="rect">
            <a:avLst/>
          </a:prstGeom>
          <a:solidFill>
            <a:srgbClr val="FFFFFA"/>
          </a:solidFill>
          <a:ln w="12700">
            <a:solidFill>
              <a:srgbClr val="D8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5864" y="1938528"/>
            <a:ext cx="64008" cy="3566160"/>
          </a:xfrm>
          <a:prstGeom prst="rect">
            <a:avLst/>
          </a:prstGeom>
          <a:solidFill>
            <a:srgbClr val="E57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17627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57859"/>
                </a:solidFill>
                <a:latin typeface="Aptos"/>
              </a:rPr>
              <a:t>SCAM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578608"/>
            <a:ext cx="2999232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16865"/>
                </a:solidFill>
                <a:latin typeface="Aptos"/>
              </a:rPr>
              <a:t>ADVANCE-FEE PRIZE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962656"/>
            <a:ext cx="2999232" cy="12344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B2B"/>
                </a:solidFill>
                <a:latin typeface="Aptos"/>
              </a:rPr>
              <a:t>?Congratulations! You won 50,000 birr prize from Dashen Bank. Send 1,000 ETB service fee to 0922001122.?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4370832"/>
            <a:ext cx="2999232" cy="16459"/>
          </a:xfrm>
          <a:prstGeom prst="rect">
            <a:avLst/>
          </a:prstGeom>
          <a:solidFill>
            <a:srgbClr val="D8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4553712"/>
            <a:ext cx="2999232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16865"/>
                </a:solidFill>
                <a:latin typeface="Aptos"/>
              </a:rPr>
              <a:t>Uses a prize as a lure, then requests a service-fee payment.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82472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16865"/>
                </a:solidFill>
                <a:latin typeface="Aptos"/>
              </a:rPr>
              <a:t>Examples are synthetic and drawn from the current labeled dataset.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865"/>
                </a:solidFill>
                <a:latin typeface="Aptos"/>
              </a:rPr>
              <a:t>MULTILINGUAL CYBER-SAFETY  /  PROTOTYPE BRIEFING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052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1686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7C9A5"/>
                </a:solidFill>
                <a:latin typeface="Aptos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F4EC"/>
                </a:solidFill>
                <a:latin typeface="Aptos Display"/>
              </a:rPr>
              <a:t>One request. Three evidence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270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7C9A5"/>
                </a:solidFill>
                <a:latin typeface="Aptos"/>
              </a:rPr>
              <a:t>The model supports the decision; deterministic analysis stays visible.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93392"/>
            <a:ext cx="1874519" cy="1115568"/>
          </a:xfrm>
          <a:prstGeom prst="rect">
            <a:avLst/>
          </a:prstGeom>
          <a:solidFill>
            <a:srgbClr val="2B4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2128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7C9A5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1460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4EC"/>
                </a:solidFill>
                <a:latin typeface="Aptos"/>
              </a:rPr>
              <a:t>POST /analyze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2258568"/>
            <a:ext cx="329184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7C9A5"/>
                </a:solidFill>
                <a:latin typeface="Apto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7792" y="1901952"/>
            <a:ext cx="2267712" cy="1298448"/>
          </a:xfrm>
          <a:prstGeom prst="rect">
            <a:avLst/>
          </a:prstGeom>
          <a:solidFill>
            <a:srgbClr val="2B4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112264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B760"/>
                </a:solidFill>
                <a:latin typeface="Aptos"/>
              </a:rPr>
              <a:t>LANGUAGE +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9816" y="2441448"/>
            <a:ext cx="1883664" cy="53035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EC"/>
                </a:solidFill>
                <a:latin typeface="Aptos"/>
              </a:rPr>
              <a:t>Script heuristic
Shared text normalization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2258568"/>
            <a:ext cx="329184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7C9A5"/>
                </a:solidFill>
                <a:latin typeface="Aptos"/>
              </a:rPr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32704" y="1755648"/>
            <a:ext cx="3072384" cy="658368"/>
          </a:xfrm>
          <a:prstGeom prst="rect">
            <a:avLst/>
          </a:prstGeom>
          <a:solidFill>
            <a:srgbClr val="2B4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32704" y="1755648"/>
            <a:ext cx="54864" cy="658368"/>
          </a:xfrm>
          <a:prstGeom prst="rect">
            <a:avLst/>
          </a:prstGeom>
          <a:solidFill>
            <a:srgbClr val="3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0448" y="1828800"/>
            <a:ext cx="2615184" cy="1737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7C9A5"/>
                </a:solidFill>
                <a:latin typeface="Aptos"/>
              </a:rPr>
              <a:t>ML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2048255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4F4EC"/>
                </a:solidFill>
                <a:latin typeface="Aptos"/>
              </a:rPr>
              <a:t>Word (1-2) + character (3-5) TF-IDF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2704" y="2596896"/>
            <a:ext cx="3072384" cy="658368"/>
          </a:xfrm>
          <a:prstGeom prst="rect">
            <a:avLst/>
          </a:prstGeom>
          <a:solidFill>
            <a:srgbClr val="2B4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32704" y="2596896"/>
            <a:ext cx="54864" cy="658368"/>
          </a:xfrm>
          <a:prstGeom prst="rect">
            <a:avLst/>
          </a:prstGeom>
          <a:solidFill>
            <a:srgbClr val="E6B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2670048"/>
            <a:ext cx="2615184" cy="1737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B760"/>
                </a:solidFill>
                <a:latin typeface="Aptos"/>
              </a:rPr>
              <a:t>SECURITY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2889503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4F4EC"/>
                </a:solidFill>
                <a:latin typeface="Aptos"/>
              </a:rPr>
              <a:t>Credential, pressure, reward, payment cues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32704" y="3438144"/>
            <a:ext cx="3072384" cy="658368"/>
          </a:xfrm>
          <a:prstGeom prst="rect">
            <a:avLst/>
          </a:prstGeom>
          <a:solidFill>
            <a:srgbClr val="2B4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32704" y="3438144"/>
            <a:ext cx="54864" cy="658368"/>
          </a:xfrm>
          <a:prstGeom prst="rect">
            <a:avLst/>
          </a:prstGeom>
          <a:solidFill>
            <a:srgbClr val="E57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0448" y="3511296"/>
            <a:ext cx="2615184" cy="1737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57859"/>
                </a:solidFill>
                <a:latin typeface="Aptos"/>
              </a:rPr>
              <a:t>URL HEURISTICS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373075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4F4EC"/>
                </a:solidFill>
                <a:latin typeface="Aptos"/>
              </a:rPr>
              <a:t>Shorteners, IP hosts, suspicious paths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267712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7C9A5"/>
                </a:solidFill>
                <a:latin typeface="Aptos"/>
              </a:rPr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98864" y="1874519"/>
            <a:ext cx="2359152" cy="1353312"/>
          </a:xfrm>
          <a:prstGeom prst="rect">
            <a:avLst/>
          </a:prstGeom>
          <a:solidFill>
            <a:srgbClr val="3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2121408"/>
            <a:ext cx="1993392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B2B"/>
                </a:solidFill>
                <a:latin typeface="Aptos"/>
              </a:rPr>
              <a:t>RISK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450592"/>
            <a:ext cx="1993392" cy="51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2B2B"/>
                </a:solidFill>
                <a:latin typeface="Aptos"/>
              </a:rPr>
              <a:t>Score + class
Recommendation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91456"/>
            <a:ext cx="10927080" cy="18288"/>
          </a:xfrm>
          <a:prstGeom prst="rect">
            <a:avLst/>
          </a:prstGeom>
          <a:solidFill>
            <a:srgbClr val="496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08406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7C9A5"/>
                </a:solidFill>
                <a:latin typeface="Aptos"/>
              </a:rPr>
              <a:t>OUTPUT CONTRACT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404104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4F4EC"/>
                </a:solidFill>
                <a:latin typeface="Aptos"/>
              </a:rPr>
              <a:t>classification   /   risk_score   /   threat_type   /   language   /   indicators   /   confidence   /   recommendation   /   explanation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062472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BAFA9"/>
                </a:solidFill>
                <a:latin typeface="Aptos"/>
              </a:rPr>
              <a:t>Confidence is a model score, not a calibrated real-world probability.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BAFA9"/>
                </a:solidFill>
                <a:latin typeface="Aptos"/>
              </a:rPr>
              <a:t>MULTILINGUAL CYBER-SAFETY  /  PROTOTYPE BRIEFING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1052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BAFA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16865"/>
                </a:solidFill>
                <a:latin typeface="Aptos"/>
              </a:rPr>
              <a:t>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2B2B"/>
                </a:solidFill>
                <a:latin typeface="Aptos Display"/>
              </a:rPr>
              <a:t>A result should tell the user what to do - and why.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270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16865"/>
                </a:solidFill>
                <a:latin typeface="Aptos"/>
              </a:rPr>
              <a:t>The API returns a structured explanation, not just a binary verdict.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16865"/>
                </a:solidFill>
                <a:latin typeface="Aptos"/>
              </a:rPr>
              <a:t>RISK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487168"/>
            <a:ext cx="1335024" cy="603504"/>
          </a:xfrm>
          <a:prstGeom prst="rect">
            <a:avLst/>
          </a:prstGeom>
          <a:solidFill>
            <a:srgbClr val="3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57860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2B"/>
                </a:solidFill>
                <a:latin typeface="Aptos"/>
              </a:rPr>
              <a:t>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807208"/>
            <a:ext cx="1188720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B2B"/>
                </a:solidFill>
                <a:latin typeface="Aptos"/>
              </a:rPr>
              <a:t>0-34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4248" y="2487168"/>
            <a:ext cx="2615184" cy="603504"/>
          </a:xfrm>
          <a:prstGeom prst="rect">
            <a:avLst/>
          </a:prstGeom>
          <a:solidFill>
            <a:srgbClr val="E6B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2578608"/>
            <a:ext cx="2468879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2B"/>
                </a:solidFill>
                <a:latin typeface="Aptos"/>
              </a:rPr>
              <a:t>SUSPICIOUS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807208"/>
            <a:ext cx="2468879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B2B"/>
                </a:solidFill>
                <a:latin typeface="Aptos"/>
              </a:rPr>
              <a:t>35-69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9432" y="2487168"/>
            <a:ext cx="1627632" cy="603504"/>
          </a:xfrm>
          <a:prstGeom prst="rect">
            <a:avLst/>
          </a:prstGeom>
          <a:solidFill>
            <a:srgbClr val="E57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2578608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2B"/>
                </a:solidFill>
                <a:latin typeface="Aptos"/>
              </a:rPr>
              <a:t>HIGH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2807208"/>
            <a:ext cx="1481328" cy="1554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2B2B"/>
                </a:solidFill>
                <a:latin typeface="Aptos"/>
              </a:rPr>
              <a:t>70-100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401568"/>
            <a:ext cx="5257800" cy="6858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B2B"/>
                </a:solidFill>
                <a:latin typeface="Aptos"/>
              </a:rPr>
              <a:t>The score combines rule points and, when available, a positive-class ML contribution.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70248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865"/>
                </a:solidFill>
                <a:latin typeface="Aptos"/>
              </a:rPr>
              <a:t>Rule and URL indicators can also trigger a high-severity floor.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920240"/>
            <a:ext cx="22860" cy="3566160"/>
          </a:xfrm>
          <a:prstGeom prst="rect">
            <a:avLst/>
          </a:prstGeom>
          <a:solidFill>
            <a:srgbClr val="D8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97510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16865"/>
                </a:solidFill>
                <a:latin typeface="Aptos"/>
              </a:rPr>
              <a:t>WHAT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1956816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62B2B"/>
                </a:solidFill>
                <a:latin typeface="Aptos"/>
              </a:rPr>
              <a:t>classification, risk_score, threat_type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651760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16865"/>
                </a:solidFill>
                <a:latin typeface="Aptos"/>
              </a:rPr>
              <a:t>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2633472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62B2B"/>
                </a:solidFill>
                <a:latin typeface="Aptos"/>
              </a:rPr>
              <a:t>language, code_switched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28416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16865"/>
                </a:solidFill>
                <a:latin typeface="Aptos"/>
              </a:rPr>
              <a:t>WHY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3310128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62B2B"/>
                </a:solidFill>
                <a:latin typeface="Aptos"/>
              </a:rPr>
              <a:t>indicators, explanation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00507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16865"/>
                </a:solidFill>
                <a:latin typeface="Aptos"/>
              </a:rP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3986784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62B2B"/>
                </a:solidFill>
                <a:latin typeface="Aptos"/>
              </a:rPr>
              <a:t>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468172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16865"/>
                </a:solidFill>
                <a:latin typeface="Aptos"/>
              </a:rPr>
              <a:t>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466344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62B2B"/>
                </a:solidFill>
                <a:latin typeface="Aptos"/>
              </a:rPr>
              <a:t>confidence (when the model loads)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47104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865"/>
                </a:solidFill>
                <a:latin typeface="Aptos"/>
              </a:rPr>
              <a:t>MULTILINGUAL CYBER-SAFETY  /  PROTOTYPE BRIEFING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1686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7C9A5"/>
                </a:solidFill>
                <a:latin typeface="Aptos"/>
              </a:rPr>
              <a:t>INITIAL MODEL EVALUATION  /  PRE-EXPANSION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F4EC"/>
                </a:solidFill>
                <a:latin typeface="Aptos Display"/>
              </a:rPr>
              <a:t>A useful baseline - not a generalization claim.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270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7C9A5"/>
                </a:solidFill>
                <a:latin typeface="Aptos"/>
              </a:rPr>
              <a:t>Group-aware CV on 41 synthetic labeled rows; the 257-row expansion has not been evaluated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56231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37C9A5"/>
                </a:solidFill>
                <a:latin typeface="Aptos Display"/>
              </a:rPr>
              <a:t>0.8842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7919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F4EC"/>
                </a:solidFill>
                <a:latin typeface="Aptos"/>
              </a:rPr>
              <a:t>MACRO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7328" y="1856231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E6B760"/>
                </a:solidFill>
                <a:latin typeface="Aptos Display"/>
              </a:rPr>
              <a:t>0.8790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2191" y="267919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F4EC"/>
                </a:solidFill>
                <a:latin typeface="Aptos"/>
              </a:rPr>
              <a:t>WEIGHTED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36976"/>
            <a:ext cx="6035040" cy="6035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2DED8"/>
                </a:solidFill>
                <a:latin typeface="Aptos"/>
              </a:rPr>
              <a:t>Logistic Regression selected over Linear SVM
5-fold StratifiedGroupKFold ? groups kept intact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65376"/>
            <a:ext cx="425196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7C9A5"/>
                </a:solidFill>
                <a:latin typeface="Aptos"/>
              </a:rPr>
              <a:t>LANGUAGE MACRO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331720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F4EC"/>
                </a:solidFill>
                <a:latin typeface="Aptos"/>
              </a:rPr>
              <a:t>ENGLISH  n=17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87968" y="2350008"/>
            <a:ext cx="1938528" cy="164592"/>
          </a:xfrm>
          <a:prstGeom prst="rect">
            <a:avLst/>
          </a:prstGeom>
          <a:solidFill>
            <a:srgbClr val="34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87968" y="2350008"/>
            <a:ext cx="1536477" cy="164592"/>
          </a:xfrm>
          <a:prstGeom prst="rect">
            <a:avLst/>
          </a:prstGeom>
          <a:solidFill>
            <a:srgbClr val="E6B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27080" y="23134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F4EC"/>
                </a:solidFill>
                <a:latin typeface="Aptos"/>
              </a:rPr>
              <a:t>0.7926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026663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F4EC"/>
                </a:solidFill>
                <a:latin typeface="Aptos"/>
              </a:rPr>
              <a:t>AMHARIC  n=14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87968" y="3044951"/>
            <a:ext cx="1938528" cy="164592"/>
          </a:xfrm>
          <a:prstGeom prst="rect">
            <a:avLst/>
          </a:prstGeom>
          <a:solidFill>
            <a:srgbClr val="34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87968" y="3044951"/>
            <a:ext cx="1808065" cy="164592"/>
          </a:xfrm>
          <a:prstGeom prst="rect">
            <a:avLst/>
          </a:prstGeom>
          <a:solidFill>
            <a:srgbClr val="3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27080" y="3008375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F4EC"/>
                </a:solidFill>
                <a:latin typeface="Aptos"/>
              </a:rPr>
              <a:t>0.9327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721608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F4EC"/>
                </a:solidFill>
                <a:latin typeface="Aptos"/>
              </a:rPr>
              <a:t>MIXED  n=10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87968" y="3739896"/>
            <a:ext cx="1938528" cy="164592"/>
          </a:xfrm>
          <a:prstGeom prst="rect">
            <a:avLst/>
          </a:prstGeom>
          <a:solidFill>
            <a:srgbClr val="34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7968" y="3739896"/>
            <a:ext cx="1938528" cy="164592"/>
          </a:xfrm>
          <a:prstGeom prst="rect">
            <a:avLst/>
          </a:prstGeom>
          <a:solidFill>
            <a:srgbClr val="E57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27080" y="370332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F4EC"/>
                </a:solidFill>
                <a:latin typeface="Aptos"/>
              </a:rPr>
              <a:t>1.0000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" y="4251960"/>
            <a:ext cx="10927080" cy="18288"/>
          </a:xfrm>
          <a:prstGeom prst="rect">
            <a:avLst/>
          </a:prstGeom>
          <a:solidFill>
            <a:srgbClr val="496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5079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BAFA9"/>
                </a:solidFill>
                <a:latin typeface="Aptos"/>
              </a:rPr>
              <a:t>CLASS 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4805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4EC"/>
                </a:solidFill>
                <a:latin typeface="Aptos"/>
              </a:rPr>
              <a:t>BENIGN  0.8718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4805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4EC"/>
                </a:solidFill>
                <a:latin typeface="Aptos"/>
              </a:rPr>
              <a:t>PHISHING  0.9474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4480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4EC"/>
                </a:solidFill>
                <a:latin typeface="Aptos"/>
              </a:rPr>
              <a:t>SCAM  0.8333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184648"/>
            <a:ext cx="10954512" cy="713232"/>
          </a:xfrm>
          <a:prstGeom prst="rect">
            <a:avLst/>
          </a:prstGeom>
          <a:solidFill>
            <a:srgbClr val="2B4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218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B760"/>
                </a:solidFill>
                <a:latin typeface="Aptos"/>
              </a:rPr>
              <a:t>READ WITH 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276088"/>
            <a:ext cx="873252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F4EC"/>
                </a:solidFill>
                <a:latin typeface="Aptos"/>
              </a:rPr>
              <a:t>Small synthetic set; template overlap was reduced, but CV is still not an independent test.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47104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BAFA9"/>
                </a:solidFill>
                <a:latin typeface="Aptos"/>
              </a:rPr>
              <a:t>MULTILINGUAL CYBER-SAFETY  /  PROTOTYPE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1052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BAFA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16865"/>
                </a:solidFill>
                <a:latin typeface="Aptos"/>
              </a:rPr>
              <a:t>DATASET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2B2B"/>
                </a:solidFill>
                <a:latin typeface="Aptos Display"/>
              </a:rPr>
              <a:t>The dataset has grown. The evaluation is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270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16865"/>
                </a:solidFill>
                <a:latin typeface="Aptos"/>
              </a:rPr>
              <a:t>257 total rows, all synthetic; 256 labeled examples and 1 preserved NEEDS_REVIEW 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16865"/>
                </a:solidFill>
                <a:latin typeface="Aptos"/>
              </a:rPr>
              <a:t>BROAD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9424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B2B"/>
                </a:solidFill>
                <a:latin typeface="Aptos"/>
              </a:rPr>
              <a:t>BENIGN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2272284"/>
            <a:ext cx="2697480" cy="182880"/>
          </a:xfrm>
          <a:prstGeom prst="rect">
            <a:avLst/>
          </a:prstGeom>
          <a:solidFill>
            <a:srgbClr val="D8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65960" y="2272284"/>
            <a:ext cx="2238908" cy="182880"/>
          </a:xfrm>
          <a:prstGeom prst="rect">
            <a:avLst/>
          </a:prstGeom>
          <a:solidFill>
            <a:srgbClr val="3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2240280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B2B"/>
                </a:solidFill>
                <a:latin typeface="Aptos"/>
              </a:rPr>
              <a:t>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71216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B2B"/>
                </a:solidFill>
                <a:latin typeface="Aptos"/>
              </a:rPr>
              <a:t>PHISHING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2894076"/>
            <a:ext cx="2697480" cy="182880"/>
          </a:xfrm>
          <a:prstGeom prst="rect">
            <a:avLst/>
          </a:prstGeom>
          <a:solidFill>
            <a:srgbClr val="D8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65960" y="2894076"/>
            <a:ext cx="2427732" cy="182880"/>
          </a:xfrm>
          <a:prstGeom prst="rect">
            <a:avLst/>
          </a:prstGeom>
          <a:solidFill>
            <a:srgbClr val="E6B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862072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B2B"/>
                </a:solidFill>
                <a:latin typeface="Aptos"/>
              </a:rPr>
              <a:t>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9300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B2B"/>
                </a:solidFill>
                <a:latin typeface="Aptos"/>
              </a:rPr>
              <a:t>SCAM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3515868"/>
            <a:ext cx="2697480" cy="182880"/>
          </a:xfrm>
          <a:prstGeom prst="rect">
            <a:avLst/>
          </a:prstGeom>
          <a:solidFill>
            <a:srgbClr val="D8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65960" y="3515868"/>
            <a:ext cx="2238908" cy="182880"/>
          </a:xfrm>
          <a:prstGeom prst="rect">
            <a:avLst/>
          </a:prstGeom>
          <a:solidFill>
            <a:srgbClr val="E57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3483864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B2B"/>
                </a:solidFill>
                <a:latin typeface="Aptos"/>
              </a:rPr>
              <a:t>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8288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16865"/>
                </a:solidFill>
                <a:latin typeface="Aptos"/>
              </a:rPr>
              <a:t>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2249424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B2B"/>
                </a:solidFill>
                <a:latin typeface="Aptos"/>
              </a:rPr>
              <a:t>ENGLISH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84848" y="2272284"/>
            <a:ext cx="2788920" cy="182880"/>
          </a:xfrm>
          <a:prstGeom prst="rect">
            <a:avLst/>
          </a:prstGeom>
          <a:solidFill>
            <a:srgbClr val="D8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84848" y="2272284"/>
            <a:ext cx="2398471" cy="182880"/>
          </a:xfrm>
          <a:prstGeom prst="rect">
            <a:avLst/>
          </a:prstGeom>
          <a:solidFill>
            <a:srgbClr val="3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240280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B2B"/>
                </a:solidFill>
                <a:latin typeface="Aptos"/>
              </a:rPr>
              <a:t>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4688" y="2871216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B2B"/>
                </a:solidFill>
                <a:latin typeface="Aptos"/>
              </a:rPr>
              <a:t>AMHARIC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84848" y="2894076"/>
            <a:ext cx="2788920" cy="182880"/>
          </a:xfrm>
          <a:prstGeom prst="rect">
            <a:avLst/>
          </a:prstGeom>
          <a:solidFill>
            <a:srgbClr val="D8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84848" y="2894076"/>
            <a:ext cx="2621584" cy="182880"/>
          </a:xfrm>
          <a:prstGeom prst="rect">
            <a:avLst/>
          </a:prstGeom>
          <a:solidFill>
            <a:srgbClr val="E6B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2862072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B2B"/>
                </a:solidFill>
                <a:latin typeface="Aptos"/>
              </a:rPr>
              <a:t>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349300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B2B"/>
                </a:solidFill>
                <a:latin typeface="Aptos"/>
              </a:rPr>
              <a:t>MIXED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515868"/>
            <a:ext cx="2788920" cy="182880"/>
          </a:xfrm>
          <a:prstGeom prst="rect">
            <a:avLst/>
          </a:prstGeom>
          <a:solidFill>
            <a:srgbClr val="D8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84848" y="3515868"/>
            <a:ext cx="2147468" cy="182880"/>
          </a:xfrm>
          <a:prstGeom prst="rect">
            <a:avLst/>
          </a:prstGeom>
          <a:solidFill>
            <a:srgbClr val="E57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3483864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B2B"/>
                </a:solidFill>
                <a:latin typeface="Aptos"/>
              </a:rPr>
              <a:t>77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61688"/>
            <a:ext cx="10881360" cy="18288"/>
          </a:xfrm>
          <a:prstGeom prst="rect">
            <a:avLst/>
          </a:prstGeom>
          <a:solidFill>
            <a:srgbClr val="D8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4681728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2B2B"/>
                </a:solidFill>
                <a:latin typeface="Aptos Display"/>
              </a:rPr>
              <a:t>215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5239512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16865"/>
                </a:solidFill>
                <a:latin typeface="Aptos"/>
              </a:rPr>
              <a:t>new synthetic examples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8144" y="4681728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2B2B"/>
                </a:solidFill>
                <a:latin typeface="Aptos Display"/>
              </a:rPr>
              <a:t>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38144" y="5239512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16865"/>
                </a:solidFill>
                <a:latin typeface="Aptos"/>
              </a:rPr>
              <a:t>named template groups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4681728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2B2B"/>
                </a:solidFill>
                <a:latin typeface="Aptos Display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1344" y="5239512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16865"/>
                </a:solidFill>
                <a:latin typeface="Aptos"/>
              </a:rPr>
              <a:t>exact duplicate messages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4544" y="4681728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2B2B"/>
                </a:solidFill>
                <a:latin typeface="Aptos Display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24544" y="5239512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16865"/>
                </a:solidFill>
                <a:latin typeface="Aptos"/>
              </a:rPr>
              <a:t>row held for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587044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865"/>
                </a:solidFill>
                <a:latin typeface="Aptos"/>
              </a:rPr>
              <a:t>New entries have populated template groups. Legacy blank groups remain unchanged and are handled as singletons in grouped CV.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47104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865"/>
                </a:solidFill>
                <a:latin typeface="Aptos"/>
              </a:rPr>
              <a:t>MULTILINGUAL CYBER-SAFETY  /  PROTOTYPE BRIEFING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51052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16865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7C9A5"/>
                </a:solidFill>
                <a:latin typeface="Aptos"/>
              </a:rPr>
              <a:t>WHAT THE FIRST EVALUATION REVEALED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F4EC"/>
                </a:solidFill>
                <a:latin typeface="Aptos Display"/>
              </a:rPr>
              <a:t>Context is the hard 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270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7C9A5"/>
                </a:solidFill>
                <a:latin typeface="Aptos"/>
              </a:rPr>
              <a:t>These are Logistic Regression out-of-fold errors from the 41-row pre-expansion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83664"/>
            <a:ext cx="5257800" cy="3584448"/>
          </a:xfrm>
          <a:prstGeom prst="rect">
            <a:avLst/>
          </a:prstGeom>
          <a:solidFill>
            <a:srgbClr val="2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7859"/>
                </a:solidFill>
                <a:latin typeface="Aptos"/>
              </a:rPr>
              <a:t>MISSED AS BENIGN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B760"/>
                </a:solidFill>
                <a:latin typeface="Aptos"/>
              </a:rPr>
              <a:t>031 ? AMHARIC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2615184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F4EC"/>
                </a:solidFill>
                <a:latin typeface="Aptos"/>
              </a:rPr>
              <a:t>Telebirr message explicitly asks for a PIN.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1071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B760"/>
                </a:solidFill>
                <a:latin typeface="Aptos"/>
              </a:rPr>
              <a:t>010 ?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3374136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F4EC"/>
                </a:solidFill>
                <a:latin typeface="Aptos"/>
              </a:rPr>
              <a:t>Delivery-fee lure with a payment request.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966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B760"/>
                </a:solidFill>
                <a:latin typeface="Aptos"/>
              </a:rPr>
              <a:t>041 ?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4133087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F4EC"/>
                </a:solidFill>
                <a:latin typeface="Aptos"/>
              </a:rPr>
              <a:t>Prize claim followed by a service-fee demand.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883664"/>
            <a:ext cx="5285232" cy="3584448"/>
          </a:xfrm>
          <a:prstGeom prst="rect">
            <a:avLst/>
          </a:prstGeom>
          <a:solidFill>
            <a:srgbClr val="2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2140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6B760"/>
                </a:solidFill>
                <a:latin typeface="Aptos"/>
              </a:rPr>
              <a:t>BENIGN MESSAGES FLAGGED AS SCAM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61488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7C9A5"/>
                </a:solidFill>
                <a:latin typeface="Aptos"/>
              </a:rPr>
              <a:t>037 ? ENGLISH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715768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F4EC"/>
                </a:solidFill>
                <a:latin typeface="Aptos"/>
              </a:rPr>
              <a:t>Completed CBE transfer receipt.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94176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7C9A5"/>
                </a:solidFill>
                <a:latin typeface="Aptos"/>
              </a:rPr>
              <a:t>038 ? ENGLISH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648456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F4EC"/>
                </a:solidFill>
                <a:latin typeface="Aptos"/>
              </a:rPr>
              <a:t>Ethio Telecom data-package purchase.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742432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4EC"/>
                </a:solidFill>
                <a:latin typeface="Aptos"/>
              </a:rPr>
              <a:t>The expanded set adds paired benign financial/provider notices and deceptive near-misses. Re-evaluate before claiming improvement.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BAFA9"/>
                </a:solidFill>
                <a:latin typeface="Aptos"/>
              </a:rPr>
              <a:t>MULTILINGUAL CYBER-SAFETY  /  PROTOTYPE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BAFA9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16865"/>
                </a:solidFill>
                <a:latin typeface="Aptos"/>
              </a:rPr>
              <a:t>PROJECT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0408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2B2B"/>
                </a:solidFill>
                <a:latin typeface="Aptos Display"/>
              </a:rPr>
              <a:t>Data first. Then measure again.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2708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16865"/>
                </a:solidFill>
                <a:latin typeface="Aptos"/>
              </a:rPr>
              <a:t>The expanded dataset is ready; performance on it is not yet known.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39112"/>
            <a:ext cx="3493008" cy="2560320"/>
          </a:xfrm>
          <a:prstGeom prst="rect">
            <a:avLst/>
          </a:prstGeom>
          <a:solidFill>
            <a:srgbClr val="FFFFFA"/>
          </a:solidFill>
          <a:ln w="12700">
            <a:solidFill>
              <a:srgbClr val="D8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039112"/>
            <a:ext cx="3493008" cy="64008"/>
          </a:xfrm>
          <a:prstGeom prst="rect">
            <a:avLst/>
          </a:prstGeom>
          <a:solidFill>
            <a:srgbClr val="3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313432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7C9A5"/>
                </a:solidFill>
                <a:latin typeface="Aptos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97480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B2B"/>
                </a:solidFill>
                <a:latin typeface="Aptos Display"/>
              </a:rPr>
              <a:t>Dataset expanded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310128"/>
            <a:ext cx="2990088" cy="9601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865"/>
                </a:solidFill>
                <a:latin typeface="Aptos"/>
              </a:rPr>
              <a:t>257 synthetic rows; labels balanced across three classes and English, Amharic, and MIXED.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7" y="2039112"/>
            <a:ext cx="3493008" cy="2560320"/>
          </a:xfrm>
          <a:prstGeom prst="rect">
            <a:avLst/>
          </a:prstGeom>
          <a:solidFill>
            <a:srgbClr val="FFFFFA"/>
          </a:solidFill>
          <a:ln w="12700">
            <a:solidFill>
              <a:srgbClr val="D8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7" y="2039112"/>
            <a:ext cx="3493008" cy="64008"/>
          </a:xfrm>
          <a:prstGeom prst="rect">
            <a:avLst/>
          </a:prstGeom>
          <a:solidFill>
            <a:srgbClr val="E6B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313432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B760"/>
                </a:solidFill>
                <a:latin typeface="Aptos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697480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B2B"/>
                </a:solidFill>
                <a:latin typeface="Aptos Display"/>
              </a:rPr>
              <a:t>Re-run group-aware 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3310128"/>
            <a:ext cx="2990088" cy="9601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865"/>
                </a:solidFill>
                <a:latin typeface="Aptos"/>
              </a:rPr>
              <a:t>Exclude NEEDS_REVIEW; preserve template groups; compare macro F1, class and language errors.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6448" y="2039112"/>
            <a:ext cx="3493008" cy="2560320"/>
          </a:xfrm>
          <a:prstGeom prst="rect">
            <a:avLst/>
          </a:prstGeom>
          <a:solidFill>
            <a:srgbClr val="FFFFFA"/>
          </a:solidFill>
          <a:ln w="12700">
            <a:solidFill>
              <a:srgbClr val="D8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6448" y="2039112"/>
            <a:ext cx="3493008" cy="64008"/>
          </a:xfrm>
          <a:prstGeom prst="rect">
            <a:avLst/>
          </a:prstGeom>
          <a:solidFill>
            <a:srgbClr val="E57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313432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57859"/>
                </a:solidFill>
                <a:latin typeface="Aptos"/>
              </a:rPr>
              <a:t>THEN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697480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B2B"/>
                </a:solidFill>
                <a:latin typeface="Aptos Display"/>
              </a:rPr>
              <a:t>Lock a test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3310128"/>
            <a:ext cx="2990088" cy="9601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865"/>
                </a:solidFill>
                <a:latin typeface="Aptos"/>
              </a:rPr>
              <a:t>Reserve examples by source/template before tuning; review Amharic and code-switched errors with fluent annotators.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084064"/>
            <a:ext cx="10881360" cy="18288"/>
          </a:xfrm>
          <a:prstGeom prst="rect">
            <a:avLst/>
          </a:prstGeom>
          <a:solidFill>
            <a:srgbClr val="D8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53766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16865"/>
                </a:solidFill>
                <a:latin typeface="Aptos"/>
              </a:rPr>
              <a:t>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532180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B2B"/>
                </a:solidFill>
                <a:latin typeface="Aptos"/>
              </a:rPr>
              <a:t>Synthetic cross-validation is a development signal - not evidence of field accuracy.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865"/>
                </a:solidFill>
                <a:latin typeface="Aptos"/>
              </a:rPr>
              <a:t>MULTILINGUAL CYBER-SAFETY  /  PROTOTYPE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052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16865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40080"/>
            <a:ext cx="4114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7C9A5"/>
                </a:solidFill>
                <a:latin typeface="Aptos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98448"/>
            <a:ext cx="6766560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4F4EC"/>
                </a:solidFill>
                <a:latin typeface="Aptos Display"/>
              </a:rPr>
              <a:t>Better signal.
Fewer false alarms.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154680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2DED8"/>
                </a:solidFill>
                <a:latin typeface="Aptos"/>
              </a:rPr>
              <a:t>A multilingual prototype that combines learned text patterns
with explicit security evidence and user-facing explanations.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4370832"/>
            <a:ext cx="914400" cy="45720"/>
          </a:xfrm>
          <a:prstGeom prst="rect">
            <a:avLst/>
          </a:prstGeom>
          <a:solidFill>
            <a:srgbClr val="E6B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7091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6B760"/>
                </a:solidFill>
                <a:latin typeface="Aptos"/>
              </a:rPr>
              <a:t>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065776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EC"/>
                </a:solidFill>
                <a:latin typeface="Aptos"/>
              </a:rPr>
              <a:t>Where should the next evaluation focus:
missed threats, false alarms, or language coverage?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170432"/>
            <a:ext cx="3794760" cy="4434840"/>
          </a:xfrm>
          <a:prstGeom prst="rect">
            <a:avLst/>
          </a:prstGeom>
          <a:solidFill>
            <a:srgbClr val="2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2127" y="15179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7C9A5"/>
                </a:solidFill>
                <a:latin typeface="Aptos"/>
              </a:rPr>
              <a:t>THREE GUARDRAILS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82127" y="2212848"/>
            <a:ext cx="384048" cy="384048"/>
          </a:xfrm>
          <a:prstGeom prst="rect">
            <a:avLst/>
          </a:prstGeom>
          <a:solidFill>
            <a:srgbClr val="37C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2231136"/>
            <a:ext cx="384048" cy="3383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B2B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203704"/>
            <a:ext cx="2514600" cy="51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4EC"/>
                </a:solidFill>
                <a:latin typeface="Aptos"/>
              </a:rPr>
              <a:t>Labels follow intent.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82127" y="3108960"/>
            <a:ext cx="384048" cy="384048"/>
          </a:xfrm>
          <a:prstGeom prst="rect">
            <a:avLst/>
          </a:prstGeom>
          <a:solidFill>
            <a:srgbClr val="E6B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3127248"/>
            <a:ext cx="384048" cy="3383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B2B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099816"/>
            <a:ext cx="2514600" cy="51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4EC"/>
                </a:solidFill>
                <a:latin typeface="Aptos"/>
              </a:rPr>
              <a:t>Related templates stay together.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4005072"/>
            <a:ext cx="384048" cy="384048"/>
          </a:xfrm>
          <a:prstGeom prst="rect">
            <a:avLst/>
          </a:prstGeom>
          <a:solidFill>
            <a:srgbClr val="E57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7" y="4023359"/>
            <a:ext cx="384048" cy="3383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B2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995928"/>
            <a:ext cx="2514600" cy="5120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4EC"/>
                </a:solidFill>
                <a:latin typeface="Aptos"/>
              </a:rPr>
              <a:t>New data needs new evaluation.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BAFA9"/>
                </a:solidFill>
                <a:latin typeface="Aptos"/>
              </a:rPr>
              <a:t>MULTILINGUAL CYBER-SAFETY  /  PROTOTYPE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BAFA9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