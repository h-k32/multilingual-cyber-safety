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512064"/>
            <a:ext cx="694944" cy="694944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54864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7766E"/>
                </a:solidFill>
                <a:latin typeface="Segoe UI Emoj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15568"/>
            <a:ext cx="100584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23538"/>
                </a:solidFill>
                <a:latin typeface="Aptos"/>
              </a:rPr>
              <a:t>Multilingual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100584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56769"/>
                </a:solidFill>
                <a:latin typeface="Aptos"/>
              </a:rPr>
              <a:t>Cyber-Safety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11274552" cy="508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05840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56769"/>
                </a:solidFill>
                <a:latin typeface="Aptos"/>
              </a:rPr>
              <a:t>Detecting Phishing · Scams · Social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0584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769"/>
                </a:solidFill>
                <a:latin typeface="Aptos"/>
              </a:rPr>
              <a:t>for Ethiopian Digital Users — in English, Amharic &amp; Mixed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572000"/>
            <a:ext cx="2194560" cy="50292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1945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3538"/>
                </a:solidFill>
                <a:latin typeface="Aptos"/>
              </a:rPr>
              <a:t>FastAPI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572000"/>
            <a:ext cx="2194560" cy="50292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572000"/>
            <a:ext cx="21945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3538"/>
                </a:solidFill>
                <a:latin typeface="Aptos"/>
              </a:rPr>
              <a:t>Flutter Mobile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572000"/>
            <a:ext cx="2194560" cy="50292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572000"/>
            <a:ext cx="21945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3538"/>
                </a:solidFill>
                <a:latin typeface="Aptos"/>
              </a:rPr>
              <a:t>ML + Rules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572000"/>
            <a:ext cx="2194560" cy="50292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572000"/>
            <a:ext cx="21945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3538"/>
                </a:solidFill>
                <a:latin typeface="Aptos"/>
              </a:rPr>
              <a:t>Multilingual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7766E"/>
                </a:solidFill>
                <a:latin typeface="Aptos"/>
              </a:rPr>
              <a:t>Demo Presentation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651760" cy="228600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538"/>
                </a:solidFill>
                <a:latin typeface="Segoe UI Emoji"/>
              </a:rP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4688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Telebirr &amp; CBE
Impersonation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46888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769"/>
                </a:solidFill>
                <a:latin typeface="Aptos"/>
              </a:rPr>
              <a:t>Most common scam
vector in Ethiopia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51760" cy="228600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08760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538"/>
                </a:solidFill>
                <a:latin typeface="Segoe UI Emoj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4688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Multilingual
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46888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769"/>
                </a:solidFill>
                <a:latin typeface="Aptos"/>
              </a:rPr>
              <a:t>Amharic + English
mixed 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51760" cy="228600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538"/>
                </a:solidFill>
                <a:latin typeface="Segoe UI Symbo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4688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No Local
Detection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46888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769"/>
                </a:solidFill>
                <a:latin typeface="Aptos"/>
              </a:rPr>
              <a:t>Existing tools miss
Amharic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651760" cy="22860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538"/>
                </a:solidFill>
                <a:latin typeface="Segoe UI Emoj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4688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Low Digital
Literacy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46888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769"/>
                </a:solidFill>
                <a:latin typeface="Aptos"/>
              </a:rPr>
              <a:t>Users can't identify
social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11274552" cy="254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3538"/>
                </a:solidFill>
                <a:latin typeface="Aptos"/>
              </a:rPr>
              <a:t>What we need: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223538"/>
                </a:solidFill>
                <a:latin typeface="Aptos"/>
              </a:rPr>
              <a:t>▸ A tool that understands Amharic, English, and code-switched messages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23538"/>
                </a:solidFill>
                <a:latin typeface="Aptos"/>
              </a:rPr>
              <a:t>▸ Detects phishing, scams, credential harvesting, and suspicious URLs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23538"/>
                </a:solidFill>
                <a:latin typeface="Aptos"/>
              </a:rPr>
              <a:t>▸ Explains WHY a message is dangerous — not just a label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23538"/>
                </a:solidFill>
                <a:latin typeface="Aptos"/>
              </a:rPr>
              <a:t>▸ Educates users to build long-term cyber 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1600200" cy="141732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Segoe UI Emoji"/>
              </a:rPr>
              <a:t>📨
Message /
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74519"/>
            <a:ext cx="3200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3538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600200" cy="141732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Segoe UI Emoji"/>
              </a:rPr>
              <a:t>🔤
Language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74519"/>
            <a:ext cx="3200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3538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1600200" cy="141732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Segoe UI Emoji"/>
              </a:rPr>
              <a:t>🤖
AI / NLP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1874519"/>
            <a:ext cx="3200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3538"/>
                </a:solidFill>
                <a:latin typeface="Apto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1600200" cy="141732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39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Segoe UI Emoji"/>
              </a:rPr>
              <a:t>🔒
Security
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874519"/>
            <a:ext cx="3200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3538"/>
                </a:solidFill>
                <a:latin typeface="Apto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1600200" cy="141732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Segoe UI Emoji"/>
              </a:rPr>
              <a:t>🔗
URL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874519"/>
            <a:ext cx="3200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3538"/>
                </a:solidFill>
                <a:latin typeface="Apto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417320"/>
            <a:ext cx="1600200" cy="141732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463040"/>
            <a:ext cx="1508760" cy="1325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⚖️
Risk
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9445752" cy="228600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154680"/>
            <a:ext cx="90525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6122"/>
                </a:solidFill>
                <a:latin typeface="Aptos"/>
              </a:rPr>
              <a:t>Risk Engine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611880"/>
            <a:ext cx="2834640" cy="50292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630168"/>
            <a:ext cx="2743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538"/>
                </a:solidFill>
                <a:latin typeface="Aptos"/>
              </a:rPr>
              <a:t>Risk Score
0 –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160520"/>
            <a:ext cx="2834640" cy="59436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178808"/>
            <a:ext cx="27432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769"/>
                </a:solidFill>
                <a:latin typeface="Aptos"/>
              </a:rPr>
              <a:t>Threat Type
TELEBIRR_SCAM
BANK_PHISHING…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611880"/>
            <a:ext cx="2834640" cy="50292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30168"/>
            <a:ext cx="2743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538"/>
                </a:solidFill>
                <a:latin typeface="Aptos"/>
              </a:rPr>
              <a:t>Confidence
0.0 – 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160520"/>
            <a:ext cx="2834640" cy="59436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178808"/>
            <a:ext cx="27432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769"/>
                </a:solidFill>
                <a:latin typeface="Aptos"/>
              </a:rPr>
              <a:t>Language
ENGLISH / AMHARIC
/ MIXED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611880"/>
            <a:ext cx="2834640" cy="50292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3630168"/>
            <a:ext cx="2743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538"/>
                </a:solidFill>
                <a:latin typeface="Aptos"/>
              </a:rPr>
              <a:t>Indicators
urgency · credential
· lookalike_domain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160520"/>
            <a:ext cx="2834640" cy="59436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4178808"/>
            <a:ext cx="27432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769"/>
                </a:solidFill>
                <a:latin typeface="Aptos"/>
              </a:rPr>
              <a:t>Recommendation
+ Explanation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11274552" cy="59436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3538"/>
                </a:solidFill>
                <a:latin typeface="Aptos"/>
              </a:rPr>
              <a:t>Detect  →  Explain  →  Educate  →  Protect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C"/>
                </a:solidFill>
                <a:latin typeface="Aptos"/>
              </a:rPr>
              <a:t>What Is Built  vs 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5394960" cy="50292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3949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3538"/>
                </a:solidFill>
                <a:latin typeface="Aptos"/>
              </a:rPr>
              <a:t>✅  BUILT &amp;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394960" cy="4389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FastAPI backend  (POST /analyze)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Multilingual security rules engine (EN + AM)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URL intelligence: shorteners, lookalike domains, IP URLs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Unicode language &amp; code-switch detector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Composite risk engine (rules + ML score)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10 threat categories with explanations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Trained ML baseline (TF-IDF + Logistic Regression)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Flutter mobile app — EN &amp; Amharic UI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Dataset (raw + preprocessed)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✔ Evaluation &amp; preprocessing pipeline scripts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25880"/>
            <a:ext cx="5394960" cy="50292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39496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3538"/>
                </a:solidFill>
                <a:latin typeface="Segoe UI Emoji"/>
              </a:rPr>
              <a:t>🔲  REMAINING /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94960" cy="4389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OCR / screenshot input (camera → text)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Share-to-analyze from WhatsApp / Telegram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Larger real-world Amharic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Transformer-based multilingual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Live threat-intelligence API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On-device inference (privacy-first)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Afaan Oromoo language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Education / awareness module in app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SMS channel listener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○ Production deployment &amp; auth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4552" cy="254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74552" cy="3200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23538"/>
                </a:solidFill>
                <a:latin typeface="Aptos"/>
              </a:rPr>
              <a:t>Core detection engine is fully functional — remaining items are channel extensions &amp; scale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Live Demo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011680" cy="18288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92024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353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920240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User pastes
suspicious message
(EN / AM / Mixed)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2743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2011680" cy="182880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463040"/>
            <a:ext cx="192024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3538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920240"/>
            <a:ext cx="1920240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Flutter app
sends POST /analyze
to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2743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17320"/>
            <a:ext cx="2011680" cy="182880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463040"/>
            <a:ext cx="192024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3538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920240"/>
            <a:ext cx="1920240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Language detected
Rules + URL
analysis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11680"/>
            <a:ext cx="2743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1417320"/>
            <a:ext cx="2011680" cy="182880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463040"/>
            <a:ext cx="192024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353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20240"/>
            <a:ext cx="1920240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ML model scores
Risk engine
combines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011680"/>
            <a:ext cx="2743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417320"/>
            <a:ext cx="2011680" cy="182880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463040"/>
            <a:ext cx="192024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3538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20240"/>
            <a:ext cx="1920240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Result returned:
Score · Type
Indicators ·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47872"/>
            <a:ext cx="10972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122"/>
                </a:solidFill>
                <a:latin typeface="Aptos"/>
              </a:rPr>
              <a:t>Sample message sent to the API: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77639"/>
            <a:ext cx="11274552" cy="68580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05072"/>
            <a:ext cx="10972800" cy="5943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7766E"/>
                </a:solidFill>
                <a:latin typeface="Aptos"/>
              </a:rPr>
              <a:t>"የእርስዎ telebirr ሂሳብ ታግዷል። PIN ቁጥርዎን በ http://cbe-verify.top/login ያስገቡ"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74552" cy="41148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28032"/>
            <a:ext cx="10972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122"/>
                </a:solidFill>
                <a:latin typeface="Aptos"/>
              </a:rPr>
              <a:t>Expected API response: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11274552" cy="123444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97280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766E"/>
                </a:solidFill>
                <a:latin typeface="Aptos"/>
              </a:rPr>
              <a:t>classification: HIGH_RISK  |  risk_score: 90  |  threat_type: TELEBIRR_SCAM
language: MIXED  |  code_switched: true
indicators: [credential_request, fear_or_threat, lookalike_domain, suspicious_tld, credential_path]
recommendation: "Never share your 6-digit telebirr PIN or OTP with anyone."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C"/>
                </a:solidFill>
                <a:latin typeface="Aptos"/>
              </a:rPr>
              <a:t>Detection Engine — How It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657600" cy="50292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347472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Segoe UI Emoji"/>
              </a:rPr>
              <a:t>🔒 Security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4114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11 rule categories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Urgency / fear language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Credential &amp; OTP requests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Financial demands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Bank / telecom impersonation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Job &amp; delivery scams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Investment fraud patterns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Compound rule synthesis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Supports EN + Amharic regex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25880"/>
            <a:ext cx="3657600" cy="50292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44168"/>
            <a:ext cx="347472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Segoe UI Emoji"/>
              </a:rPr>
              <a:t>🔗 URL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19"/>
            <a:ext cx="3474720" cy="4114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URL shortener detection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IP-address hostnames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Lookalike domain spoofing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Suspicious TLDs (.top .xyz…)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Credential paths (/login /pin)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Punycode / Unicode obfuscation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Missing HTTPS flag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Excessive subdomains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Ethiopian domain whitelist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25880"/>
            <a:ext cx="3657600" cy="50292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44168"/>
            <a:ext cx="347472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Segoe UI Emoji"/>
              </a:rPr>
              <a:t>🤖 ML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474720" cy="4114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TF-IDF (word + char n-grams)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Logistic Regression classifier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Trained on EN + AM dataset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Outputs: PHISHING / SCAM / BENIGN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Probability → ML score (×40)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Escalates SAFE → SUSPICIOUS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Combined with rule 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Capped composite score /100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3538"/>
                </a:solidFill>
                <a:latin typeface="Aptos"/>
              </a:rPr>
              <a:t>• High-severity override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6122"/>
                </a:solidFill>
                <a:latin typeface="Aptos"/>
              </a:rPr>
              <a:t>Final Score  =  min( Rule Score + ML Score , 100 )   →   SAFE (&lt;35)  |  SUSPICIOUS (35–69)  |  HIGH RISK (≥70)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C"/>
                </a:solidFill>
                <a:latin typeface="Aptos"/>
              </a:rPr>
              <a:t>Threat Categories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82296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📱 TELEBIRR SCAM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Fake telebirr PIN/OTP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82296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🏦 BANK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CBE / Awash brand impersonation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577840" cy="82296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🔑 CREDENTIAL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Password / login page harvesting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577840" cy="82296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39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🎁 PRIZE SCAM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Lottery / reward bait with fee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5577840" cy="82296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💼 JOB SCAM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Fake work-from-home recruitment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577840" cy="822960"/>
          </a:xfrm>
          <a:prstGeom prst="rect">
            <a:avLst/>
          </a:prstGeom>
          <a:solidFill>
            <a:srgbClr val="DF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📦 DELIVERY SCAM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Fake parcel fee demand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5577840" cy="82296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Symbol"/>
              </a:rPr>
              <a:t>⚠ ACCOUNT TAKEOVER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Suspension threat + impersonation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51960"/>
            <a:ext cx="5577840" cy="82296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8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🔗 SUSPICIOUS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IP URL / lookalike / bad TLD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12080"/>
            <a:ext cx="5577840" cy="82296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🧠 SOCIAL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2356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Urgency + fear + psychological pressure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212080"/>
            <a:ext cx="5577840" cy="82296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57800"/>
            <a:ext cx="274320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3538"/>
                </a:solidFill>
                <a:latin typeface="Segoe UI Emoji"/>
              </a:rPr>
              <a:t>📈 INVESTMENT SCAM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23560"/>
            <a:ext cx="530352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Crypto / forex guaranteed profit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C"/>
                </a:solidFill>
                <a:latin typeface="Aptos"/>
              </a:rPr>
              <a:t>Multilingual &amp; Code-Switch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59436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3538"/>
                </a:solidFill>
                <a:latin typeface="Aptos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Latin script only
(A-Z)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365760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10972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3538"/>
                </a:solidFill>
                <a:latin typeface="Aptos"/>
              </a:rPr>
              <a:t>"Your account will be suspended.
Verify now: http://bit.ly/verify"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59436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89888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3538"/>
                </a:solidFill>
                <a:latin typeface="Aptos"/>
              </a:rPr>
              <a:t>AMHARIC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Ethiopic script only
(U+1200–U+139F)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06040"/>
            <a:ext cx="365760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474720" cy="10972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3538"/>
                </a:solidFill>
                <a:latin typeface="Aptos"/>
              </a:rPr>
              <a:t>"የእርስዎ telebirr ሂሳብ ታግዷል።
PIN ቁጥርዎን ያስገቡ"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9436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3538"/>
                </a:solidFill>
                <a:latin typeface="Aptos"/>
              </a:rPr>
              <a:t>MIXED
(Code-Switch)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47472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538"/>
                </a:solidFill>
                <a:latin typeface="Aptos"/>
              </a:rPr>
              <a:t>Both scripts ≥ 8%
of total letters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606040"/>
            <a:ext cx="365760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474720" cy="10972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3538"/>
                </a:solidFill>
                <a:latin typeface="Aptos"/>
              </a:rPr>
              <a:t>"እንኳን ደስ አለዎት! You won
50,000 ETB. Click to claim."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1274552" cy="254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3538"/>
                </a:solidFill>
                <a:latin typeface="Aptos"/>
              </a:rPr>
              <a:t>How code-switching is handled: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74552" cy="20116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3538"/>
                </a:solidFill>
                <a:latin typeface="Aptos"/>
              </a:rPr>
              <a:t>▸ URLs are stripped BEFORE script ratio calculation — prevents misclassifying Amharic+URL as MIXED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3538"/>
                </a:solidFill>
                <a:latin typeface="Aptos"/>
              </a:rPr>
              <a:t>▸ Ethiopic Unicode range U+1200–U+139F covers all Amharic characters used in scam messages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3538"/>
                </a:solidFill>
                <a:latin typeface="Aptos"/>
              </a:rPr>
              <a:t>▸ Minor script threshold = 8% — catches genuine code-switching without false positives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3538"/>
                </a:solidFill>
                <a:latin typeface="Aptos"/>
              </a:rPr>
              <a:t>▸ Security rules run in BOTH languages simultaneously — no language branch needed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3538"/>
                </a:solidFill>
                <a:latin typeface="Aptos"/>
              </a:rPr>
              <a:t>▸ Limitation: Latin-transliterated Amharic (e.g. 'selam') is counted as English 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C"/>
                </a:solidFill>
                <a:latin typeface="Aptos"/>
              </a:rPr>
              <a:t>ML Pipeline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011680" cy="146304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920240" cy="13716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Raw Dataset
messages.csv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74519"/>
            <a:ext cx="2743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79" y="1371600"/>
            <a:ext cx="2011680" cy="146304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199" y="1417320"/>
            <a:ext cx="1920240" cy="13716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Preprocessing
Normalize · URL tag
Currency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874519"/>
            <a:ext cx="2743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011680" cy="146304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17320"/>
            <a:ext cx="1920240" cy="13716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TF-IDF
Word n-grams
(1,2)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74519"/>
            <a:ext cx="2743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1371600"/>
            <a:ext cx="2011680" cy="1463040"/>
          </a:xfrm>
          <a:prstGeom prst="rect">
            <a:avLst/>
          </a:prstGeom>
          <a:solidFill>
            <a:srgbClr val="F1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Logistic
Regression
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74519"/>
            <a:ext cx="2743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769"/>
                </a:solidFill>
                <a:latin typeface="Apto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371600"/>
            <a:ext cx="2011680" cy="146304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417320"/>
            <a:ext cx="1920240" cy="13716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Saved Model
.joblib
artifacts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2377440" cy="5943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Language Detection
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37744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6122"/>
                </a:solidFill>
                <a:latin typeface="Aptos"/>
              </a:rPr>
              <a:t>100%
(30/30 synthetic)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2377440" cy="5943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Code-Switch
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237744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6122"/>
                </a:solidFill>
                <a:latin typeface="Aptos"/>
              </a:rPr>
              <a:t>100%
(30/30 synthetic)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154680"/>
            <a:ext cx="2377440" cy="5943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ML Macro
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03320"/>
            <a:ext cx="237744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6122"/>
                </a:solidFill>
                <a:latin typeface="Aptos"/>
              </a:rPr>
              <a:t>0.60
(6-sample smoke test)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108960"/>
            <a:ext cx="2560320" cy="137160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154680"/>
            <a:ext cx="2377440" cy="5943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3538"/>
                </a:solidFill>
                <a:latin typeface="Aptos"/>
              </a:rPr>
              <a:t>ML Weighted
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703320"/>
            <a:ext cx="237744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6122"/>
                </a:solidFill>
                <a:latin typeface="Aptos"/>
              </a:rPr>
              <a:t>83%
(6-sample smoke test)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11274552" cy="5029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90872"/>
            <a:ext cx="1106424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6122"/>
                </a:solidFill>
                <a:latin typeface="Segoe UI Symbol"/>
              </a:rPr>
              <a:t>⚠  Metrics are on a 30-row synthetic dataset — pipeline validation only, not real-world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1097280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6769"/>
                </a:solidFill>
                <a:latin typeface="Aptos"/>
              </a:rPr>
              <a:t>Why rules + ML together?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112745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769"/>
                </a:solidFill>
                <a:latin typeface="Aptos"/>
              </a:rPr>
              <a:t>▸ Rules are deterministic — always catch known patterns even with zero training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769"/>
                </a:solidFill>
                <a:latin typeface="Aptos"/>
              </a:rPr>
              <a:t>▸ ML generalizes to unseen phrasing and catches subtle intent the rules miss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769"/>
                </a:solidFill>
                <a:latin typeface="Aptos"/>
              </a:rPr>
              <a:t>▸ Combined score is more robust than either alone — defense in depth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Roadmap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solidFill>
            <a:srgbClr val="E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Phase 1
(Done)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468880" cy="228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FastAPI backend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Rules + URL engine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Language detector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ML baseline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Flutter app (EN+AM)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651760" cy="685800"/>
          </a:xfrm>
          <a:prstGeom prst="rect">
            <a:avLst/>
          </a:prstGeom>
          <a:solidFill>
            <a:srgbClr val="F4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89888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Phase 2
(Next)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Real-world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Transformer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OCR / screenshot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Share-to-analyze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Afaan Oromoo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651760" cy="685800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89888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Phase 3
(Future)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468880" cy="228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Threat intel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On-device inference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SMS channel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Education module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Multi-country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371600"/>
            <a:ext cx="2651760" cy="6858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389888"/>
            <a:ext cx="2468880" cy="6400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3538"/>
                </a:solidFill>
                <a:latin typeface="Aptos"/>
              </a:rPr>
              <a:t>Vision
(Long-term)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468880" cy="228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Channel-independent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WhatsApp / Telegram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Community threat feed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Gov / NGO partnership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3538"/>
                </a:solidFill>
                <a:latin typeface="Aptos"/>
              </a:rPr>
              <a:t>→ Open-source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11274552" cy="25400"/>
          </a:xfrm>
          <a:prstGeom prst="rect">
            <a:avLst/>
          </a:prstGeom>
          <a:solidFill>
            <a:srgbClr val="D8E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2743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3538"/>
                </a:solidFill>
                <a:latin typeface="Aptos"/>
              </a:rPr>
              <a:t>Final Vision: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1274552" cy="11887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23538"/>
                </a:solidFill>
                <a:latin typeface="Aptos"/>
              </a:rPr>
              <a:t>A near-real-time, multilingual AI cyber-safety assistant for Ethiopian digital users — detecting, explaining, educating, and protecting across SMS, WhatsApp, Telegram, Email, and Screenshots with the same core engine underneath.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C"/>
                </a:solidFill>
                <a:latin typeface="Aptos"/>
              </a:rPr>
              <a:t>Possible Questions &amp; Key Points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417320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Why not use a pre-trained LLM?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847088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LLMs need internet + compute. Our hybrid (rules+ML) runs locally, is explainable, and works offline.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17320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How accurate is the ML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847088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Baseline F1=0.60 on 30 synthetic rows — pipeline proof only. Real accuracy needs a larger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70048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15768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How does it handle Amharic?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45536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Unicode script detection + bilingual regex rules. No external NLP library needed for Amharic.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70048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15768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What is code-switching?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45536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Mixing two languages in one message — common in Ethiopia (e.g. Amharic sentence + English URL).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68496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14215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Is user data stored?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443983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No. Messages are analyzed in-memory and not persisted. Privacy-by-design from the 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68496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014215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Why Flutter?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443983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Single codebase for Android + iOS. Supports Ethiopic fonts and runs the demo on any device.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66944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12664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Can it be fooled?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742431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Yes — adversarial rephrasing can bypass rules. That's why ML + rules together are more robust.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266944"/>
            <a:ext cx="5577840" cy="1188720"/>
          </a:xfrm>
          <a:prstGeom prst="rect">
            <a:avLst/>
          </a:prstGeom>
          <a:solidFill>
            <a:srgbClr val="E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312664"/>
            <a:ext cx="534924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122"/>
                </a:solidFill>
                <a:latin typeface="Aptos"/>
              </a:rPr>
              <a:t>Q: What's the biggest gap?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742431"/>
            <a:ext cx="5349240" cy="65836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769"/>
                </a:solidFill>
                <a:latin typeface="Aptos"/>
              </a:rPr>
              <a:t>A: Dataset size. A real-world Amharic scam corpus would significantly improve ML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