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148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0" y="548640"/>
            <a:ext cx="2130552" cy="2130552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212080" y="6858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 i="0">
                <a:solidFill>
                  <a:srgbClr val="FFFFFF"/>
                </a:solidFill>
              </a:rP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0584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Multilingual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CE93D8"/>
                </a:solidFill>
              </a:rPr>
              <a:t>Cyber-Safety Assistant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788920"/>
            <a:ext cx="11274552" cy="50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E1BEE7"/>
                </a:solidFill>
              </a:rPr>
              <a:t>Detecting Phishing · Scams · Social Engineering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2044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E93D8"/>
                </a:solidFill>
              </a:rPr>
              <a:t>for Ethiopian Digital Users — in English, Amharic &amp; Mixed Language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4572000"/>
            <a:ext cx="2194560" cy="5029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572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FastAPI Backend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4572000"/>
            <a:ext cx="219456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4572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Flutter Mobile 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4572000"/>
            <a:ext cx="2194560" cy="5029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0" y="4572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ML + Rules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4572000"/>
            <a:ext cx="21945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45720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Multilingual NLP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B47BC"/>
                </a:solidFill>
              </a:rPr>
              <a:t>Demo Presentation  •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463040"/>
            <a:ext cx="2651760" cy="2286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Telebirr &amp; CBE
Impersonation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Most common scam
vector in Ethiopia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463040"/>
            <a:ext cx="2651760" cy="22860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Multilingual
Attacks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834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Amharic + English
mixed messages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2651760" cy="22860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⚠️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No Local
Detection Tool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834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Existing tools miss
Amharic context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63040"/>
            <a:ext cx="2651760" cy="22860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508760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</a:rPr>
              <a:t>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468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Low Digital
Literacy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346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CC"/>
                </a:solidFill>
              </a:rPr>
              <a:t>Users can't identify
social engineering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39"/>
            <a:ext cx="11274552" cy="254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148C"/>
                </a:solidFill>
              </a:rPr>
              <a:t>What we need: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57200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▸ A tool that understands Amharic, English, and code-switched messages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▸ Detects phishing, scams, credential harvesting, and suspicious URLs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▸ Explains WHY a message is dangerous — not just a label</a:t>
            </a:r>
          </a:p>
          <a:p>
            <a:pPr>
              <a:spcBef>
                <a:spcPts val="400"/>
              </a:spcBef>
            </a:pPr>
            <a:r>
              <a:rPr sz="1500" b="0">
                <a:solidFill>
                  <a:srgbClr val="212121"/>
                </a:solidFill>
              </a:rPr>
              <a:t>▸ Educates users to build long-term cyber resilience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1417320"/>
            <a:ext cx="1600200" cy="141732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59" y="146304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📨
Message /
Screenshot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87451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148C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1600200" cy="14173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31720" y="146304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🔤
Language
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87451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148C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417320"/>
            <a:ext cx="1600200" cy="14173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79" y="146304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🤖
AI / NLP
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59" y="187451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148C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9" y="1417320"/>
            <a:ext cx="1600200" cy="14173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39" y="146304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🔒
Security
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187451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148C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417320"/>
            <a:ext cx="1600200" cy="14173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6304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🔗
URL
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1874519"/>
            <a:ext cx="320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4A148C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149840" y="1417320"/>
            <a:ext cx="1600200" cy="14173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1463040"/>
            <a:ext cx="15087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⚖️
Risk
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108960"/>
            <a:ext cx="9445752" cy="22860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54480" y="3154680"/>
            <a:ext cx="9052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176"/>
                </a:solidFill>
              </a:rPr>
              <a:t>Risk Engine Output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554480" y="3611880"/>
            <a:ext cx="2834640" cy="50292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600200" y="3630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Risk Score
0 – 100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554480" y="4160520"/>
            <a:ext cx="2834640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00200" y="41788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CAFF"/>
                </a:solidFill>
              </a:rPr>
              <a:t>Threat Type
TELEBIRR_SCAM
BANK_PHISHING…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617720" y="3611880"/>
            <a:ext cx="2834640" cy="50292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63440" y="3630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Confidence
0.0 – 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7720" y="4160520"/>
            <a:ext cx="2834640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1788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CAFF"/>
                </a:solidFill>
              </a:rPr>
              <a:t>Language
ENGLISH / AMHARIC
/ MIXED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680960" y="3611880"/>
            <a:ext cx="2834640" cy="502920"/>
          </a:xfrm>
          <a:prstGeom prst="rect">
            <a:avLst/>
          </a:prstGeom>
          <a:solidFill>
            <a:srgbClr val="2835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26680" y="36301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</a:rPr>
              <a:t>Indicators
urgency · credential
· lookalike_domain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680960" y="4160520"/>
            <a:ext cx="2834640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26680" y="4178808"/>
            <a:ext cx="2743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CAFF"/>
                </a:solidFill>
              </a:rPr>
              <a:t>Recommendation
+ Explanation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577840"/>
            <a:ext cx="11274552" cy="5943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62356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Detect  →  Explain  →  Educate  →  Protect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Is Built  vs  What Remains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5394960" cy="5029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258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✅  BUILT &amp; WORKING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874519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FastAPI backend  (POST /analyze)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Multilingual security rules engine (EN + AM)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URL intelligence: shorteners, lookalike domains, IP URLs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Unicode language &amp; code-switch detector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Composite risk engine (rules + ML score)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10 threat categories with explanations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Trained ML baseline (TF-IDF + Logistic Regression)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Flutter mobile app — EN &amp; Amharic UI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Dataset (raw + preprocessed)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✔ Evaluation &amp; preprocessing pipeline scripts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25880"/>
            <a:ext cx="5394960" cy="5029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3258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🔲  REMAINING / FUTURE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874519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OCR / screenshot input (camera → text)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Share-to-analyze from WhatsApp / Telegram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Larger real-world Amharic dataset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Transformer-based multilingual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Live threat-intelligence API integration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On-device inference (privacy-first)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Afaan Oromoo language support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Education / awareness module in app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SMS channel listener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○ Production deployment &amp; auth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92240"/>
            <a:ext cx="11274552" cy="254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53796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B1FA2"/>
                </a:solidFill>
              </a:rPr>
              <a:t>Core detection engine is fully functional — remaining items are channel extensions &amp; scale improvements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Live Demo — 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17320"/>
            <a:ext cx="2011680" cy="1828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User pastes
suspicious message
(EN / AM / Mixed)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6888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E93D8"/>
                </a:solidFill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788920" y="1417320"/>
            <a:ext cx="2011680" cy="1828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39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34639" y="19202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Flutter app
sends POST /analyze
to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E93D8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20640" y="1417320"/>
            <a:ext cx="2011680" cy="18288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59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59" y="19202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Language detected
Rules + URL
analysis run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E93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52359" y="1417320"/>
            <a:ext cx="2011680" cy="18288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19202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ML model scores
Risk engine
combines signals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39" y="2011680"/>
            <a:ext cx="274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E93D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84080" y="1417320"/>
            <a:ext cx="2011680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146304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29800" y="1920240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Result returned:
Score · Type
Indicators · 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520440"/>
            <a:ext cx="11274552" cy="41148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4787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176"/>
                </a:solidFill>
              </a:rPr>
              <a:t>Sample message sent to the API: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77639"/>
            <a:ext cx="11274552" cy="6858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005072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0FF80"/>
                </a:solidFill>
              </a:rPr>
              <a:t>"የእርስዎ telebirr ሂሳብ ታግዷል። PIN ቁጥርዎን በ http://cbe-verify.top/login ያስገቡ"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800600"/>
            <a:ext cx="11274552" cy="41148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8280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176"/>
                </a:solidFill>
              </a:rPr>
              <a:t>Expected API response: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5257800"/>
            <a:ext cx="11274552" cy="123444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5285232"/>
            <a:ext cx="1097280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0FF80"/>
                </a:solidFill>
              </a:rPr>
              <a:t>classification: HIGH_RISK  |  risk_score: 90  |  threat_type: TELEBIRR_SCAM
language: MIXED  |  code_switched: true
indicators: [credential_request, fear_or_threat, lookalike_domain, suspicious_tld, credential_path]
recommendation: "Never share your 6-digit telebirr PIN or OTP with anyone."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Detection Engine — How It Scores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25880"/>
            <a:ext cx="3657600" cy="50292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44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🔒 Security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11 rule categories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Urgency / fear language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Credential &amp; OTP requests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Financial demands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Bank / telecom impersonation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Job &amp; delivery scams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Investment fraud patterns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Compound rule synthesis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Supports EN + Amharic regex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25880"/>
            <a:ext cx="365760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344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🔗 URL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1874519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URL shortener detection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IP-address hostnames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Lookalike domain spoofing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Suspicious TLDs (.top .xyz…)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Credential paths (/login /pin)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Punycode / Unicode obfuscation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Missing HTTPS flag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Excessive subdomains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Ethiopian domain whitelist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25880"/>
            <a:ext cx="3657600" cy="502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44168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🤖 ML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874519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TF-IDF (word + char n-grams)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Logistic Regression classifier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Trained on EN + AM dataset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Outputs: PHISHING / SCAM / BENIGN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Probability → ML score (×40)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Escalates SAFE → SUSPICIOUS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Combined with rule score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Capped composite score /100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121"/>
                </a:solidFill>
              </a:rPr>
              <a:t>• High-severity override logic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989320"/>
            <a:ext cx="11274552" cy="59436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176"/>
                </a:solidFill>
              </a:rPr>
              <a:t>Final Score  =  min( Rule Score + ML Score , 100 )   →   SAFE (&lt;35)  |  SUSPICIOUS (35–69)  |  HIGH RISK (≥70)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Threat Categories Detected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57784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📱 TELEBIRR SCAM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Fake telebirr PIN/OTP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577840" cy="8229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🏦 BANK PHISHING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8308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CBE / Awash brand impersonation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331720"/>
            <a:ext cx="5577840" cy="8229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🔑 CREDENTIAL PHISHING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Password / login page harvesting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331720"/>
            <a:ext cx="5577840" cy="8229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77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🎁 PRIZE SCAM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4320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Lottery / reward bait with fee demand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91840"/>
            <a:ext cx="5577840" cy="8229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💼 JOB SCAM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Fake work-from-home recruitment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291840"/>
            <a:ext cx="5577840" cy="822960"/>
          </a:xfrm>
          <a:prstGeom prst="rect">
            <a:avLst/>
          </a:prstGeom>
          <a:solidFill>
            <a:srgbClr val="006D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337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📦 DELIVERY SCAM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70332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Fake parcel fee demand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251960"/>
            <a:ext cx="5577840" cy="82296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⚠️ ACCOUNT TAKEOVER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Suspension threat + impersonation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251960"/>
            <a:ext cx="5577840" cy="8229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4297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🔗 SUSPICIOUS LINK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66344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IP URL / lookalike / bad TLD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212080"/>
            <a:ext cx="5577840" cy="8229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🧠 SOCIAL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623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Urgency + fear + psychological pressure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5212080"/>
            <a:ext cx="5577840" cy="8229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257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📈 INVESTMENT SCAM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235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CC"/>
                </a:solidFill>
              </a:rPr>
              <a:t>Crypto / forex guaranteed profit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Multilingual &amp; Code-Switch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657600" cy="59436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ENGLISH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Latin script only
(A-Z)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606040"/>
            <a:ext cx="3657600" cy="1188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651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"Your account will be suspended.
Verify now: http://bit.ly/verify"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657600" cy="59436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898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AMHARIC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Ethiopic script only
(U+1200–U+139F)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606040"/>
            <a:ext cx="3657600" cy="1188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2651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"የእርስዎ telebirr ሂሳብ ታግዷል።
PIN ቁጥርዎን ያስገቡ"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371600"/>
            <a:ext cx="3657600" cy="59436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389888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MIXED
(Code-Switch)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Both scripts ≥ 8%
of total letters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606040"/>
            <a:ext cx="3657600" cy="118872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6517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212121"/>
                </a:solidFill>
              </a:rPr>
              <a:t>"እንኳን ደስ አለዎት! You won
50,000 ETB. Click to claim."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39"/>
            <a:ext cx="11274552" cy="254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1148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A148C"/>
                </a:solidFill>
              </a:rPr>
              <a:t>How code-switching is handled: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1274552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12121"/>
                </a:solidFill>
              </a:rPr>
              <a:t>▸ URLs are stripped BEFORE script ratio calculation — prevents misclassifying Amharic+URL as MIXED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2121"/>
                </a:solidFill>
              </a:rPr>
              <a:t>▸ Ethiopic Unicode range U+1200–U+139F covers all Amharic characters used in scam messages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2121"/>
                </a:solidFill>
              </a:rPr>
              <a:t>▸ Minor script threshold = 8% — catches genuine code-switching without false positives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2121"/>
                </a:solidFill>
              </a:rPr>
              <a:t>▸ Security rules run in BOTH languages simultaneously — no language branch needed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12121"/>
                </a:solidFill>
              </a:rPr>
              <a:t>▸ Limitation: Latin-transliterated Amharic (e.g. 'selam') is counted as English script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ML Pipeline &amp;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011680" cy="146304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4173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Raw Dataset
messages.csv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87451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E93D8"/>
                </a:solidFill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2697479" y="1371600"/>
            <a:ext cx="2011680" cy="14630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199" y="14173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Preprocessing
Normalize · URL tag
Currency tag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9160" y="187451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E93D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71600"/>
            <a:ext cx="2011680" cy="14630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4173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TF-IDF
Word n-grams
(1,2)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187451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E93D8"/>
                </a:solidFill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19" y="1371600"/>
            <a:ext cx="2011680" cy="146304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4173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Logistic
Regression
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1874519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CE93D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1371600"/>
            <a:ext cx="2011680" cy="14630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38360" y="1417320"/>
            <a:ext cx="1920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Saved Model
.joblib
artifacts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08960"/>
            <a:ext cx="2560320" cy="1371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1546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Language Detection
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703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176"/>
                </a:solidFill>
              </a:rPr>
              <a:t>100%
(30/30 synthetic)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91840" y="3108960"/>
            <a:ext cx="2560320" cy="13716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80" y="31546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Code-Switch
Accuracy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703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176"/>
                </a:solidFill>
              </a:rPr>
              <a:t>100%
(30/30 synthetic)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108960"/>
            <a:ext cx="2560320" cy="13716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31546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ML Macro
F1-Score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3703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176"/>
                </a:solidFill>
              </a:rPr>
              <a:t>0.60
(6-sample smoke test)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961120" y="3108960"/>
            <a:ext cx="2560320" cy="13716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52560" y="315468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ML Weighted
Accuracy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3703320"/>
            <a:ext cx="2377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176"/>
                </a:solidFill>
              </a:rPr>
              <a:t>83%
(6-sample smoke test)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663440"/>
            <a:ext cx="11274552" cy="50292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4690872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CC80"/>
                </a:solidFill>
              </a:rPr>
              <a:t>⚠  Metrics are on a 30-row synthetic dataset — pipeline validation only, not real-world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3492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E93D8"/>
                </a:solidFill>
              </a:rPr>
              <a:t>Why rules + ML together?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806440"/>
            <a:ext cx="112745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1BEE7"/>
                </a:solidFill>
              </a:rPr>
              <a:t>▸ Rules are deterministic — always catch known patterns even with zero training data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1BEE7"/>
                </a:solidFill>
              </a:rPr>
              <a:t>▸ ML generalizes to unseen phrasing and catches subtle intent the rules miss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1BEE7"/>
                </a:solidFill>
              </a:rPr>
              <a:t>▸ Combined score is more robust than either alone — defense in depth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Roadmap &amp; 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265176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898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Phase 1
(Done)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FastAPI backend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Rules + URL engine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Language detector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ML baseline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Flutter app (EN+AM)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371600"/>
            <a:ext cx="2651760" cy="68580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3898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Phase 2
(Next)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21031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Real-world dataset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Transformer model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OCR / screenshot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Share-to-analyze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Afaan Oromoo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2651760" cy="6858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898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Phase 3
(Future)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1031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Threat intel API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On-device inference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SMS channel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Education module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Multi-country support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00" y="1371600"/>
            <a:ext cx="2651760" cy="685800"/>
          </a:xfrm>
          <a:prstGeom prst="rect">
            <a:avLst/>
          </a:prstGeom>
          <a:solidFill>
            <a:srgbClr val="008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1389888"/>
            <a:ext cx="2468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Vision
(Long-term)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0312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Channel-independent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WhatsApp / Telegram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Community threat feed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Gov / NGO partnership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12121"/>
                </a:solidFill>
              </a:rPr>
              <a:t>→ Open-source release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617720"/>
            <a:ext cx="11274552" cy="2540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4A148C"/>
                </a:solidFill>
              </a:rPr>
              <a:t>Final Vision: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25780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212121"/>
                </a:solidFill>
              </a:rPr>
              <a:t>A near-real-time, multilingual AI cyber-safety assistant for Ethiopian digital users — detecting, explaining, educating, and protecting across SMS, WhatsApp, Telegram, Email, and Screenshots with the same core engine underneath.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00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Possible Questions &amp; Key Points to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577840" cy="118872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41732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76"/>
                </a:solidFill>
              </a:rPr>
              <a:t>Q: Why not use a pre-trained LLM?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1847088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BEE7"/>
                </a:solidFill>
              </a:rPr>
              <a:t>A: LLMs need internet + compute. Our hybrid (rules+ML) runs locally, is explainable, and works offline.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371600"/>
            <a:ext cx="5577840" cy="118872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19088" y="1417320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76"/>
                </a:solidFill>
              </a:rPr>
              <a:t>Q: How accurate is the ML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19088" y="1847088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BEE7"/>
                </a:solidFill>
              </a:rPr>
              <a:t>A: Baseline F1=0.60 on 30 synthetic rows — pipeline proof only. Real accuracy needs a larger dataset.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70048"/>
            <a:ext cx="5577840" cy="118872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27157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76"/>
                </a:solidFill>
              </a:rPr>
              <a:t>Q: How does it handle Amharic?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3145536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BEE7"/>
                </a:solidFill>
              </a:rPr>
              <a:t>A: Unicode script detection + bilingual regex rules. No external NLP library needed for Amharic.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670048"/>
            <a:ext cx="5577840" cy="118872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19088" y="2715768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76"/>
                </a:solidFill>
              </a:rPr>
              <a:t>Q: What is code-switching?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19088" y="3145536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BEE7"/>
                </a:solidFill>
              </a:rPr>
              <a:t>A: Mixing two languages in one message — common in Ethiopia (e.g. Amharic sentence + English URL).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968496"/>
            <a:ext cx="5577840" cy="118872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4014215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76"/>
                </a:solidFill>
              </a:rPr>
              <a:t>Q: Is user data stored?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443983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BEE7"/>
                </a:solidFill>
              </a:rPr>
              <a:t>A: No. Messages are analyzed in-memory and not persisted. Privacy-by-design from the start.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968496"/>
            <a:ext cx="5577840" cy="118872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014215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76"/>
                </a:solidFill>
              </a:rPr>
              <a:t>Q: Why Flutter?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443983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BEE7"/>
                </a:solidFill>
              </a:rPr>
              <a:t>A: Single codebase for Android + iOS. Supports Ethiopic fonts and runs the demo on any device.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266944"/>
            <a:ext cx="5577840" cy="118872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312664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76"/>
                </a:solidFill>
              </a:rPr>
              <a:t>Q: Can it be fooled?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574243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BEE7"/>
                </a:solidFill>
              </a:rPr>
              <a:t>A: Yes — adversarial rephrasing can bypass rules. That's why ML + rules together are more robust.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5266944"/>
            <a:ext cx="5577840" cy="1188720"/>
          </a:xfrm>
          <a:prstGeom prst="rect">
            <a:avLst/>
          </a:prstGeom>
          <a:solidFill>
            <a:srgbClr val="2D00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19088" y="5312664"/>
            <a:ext cx="5349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176"/>
                </a:solidFill>
              </a:rPr>
              <a:t>Q: What's the biggest gap?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9088" y="5742431"/>
            <a:ext cx="53492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1BEE7"/>
                </a:solidFill>
              </a:rPr>
              <a:t>A: Dataset size. A real-world Amharic scam corpus would significantly improve ML performance.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